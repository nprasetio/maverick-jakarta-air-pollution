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05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F8B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MAVERICK INDONESIA  ·  DATA ANALYST CASE STUDY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F8B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Intelligence Report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822960" y="3657600"/>
            <a:ext cx="1371600" cy="36576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8404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4,113-article media wave to a launch strategy: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when, where, and how the client should make its first move.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</a:rPr>
              <a:t>Submitted by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Novindra Prasetio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</a:rPr>
              <a:t>    ·    novindrap@gmail.com    ·  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Tujuh kalimat untuk pengambil keputusan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17647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0756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Polusi udara Jakarta kini bukan lagi sekadar perdebatan regulasi — telah berevolusi menjadi krisis kesehatan berbasis lifestyle yang direspons sebagai ancaman personal.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28620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Wave Reality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317296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kepanikan Agustus yang mendominasi 68,5% publikasi setahun telah runtuh tajam — November tersisa hanya 19 artikel.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502920" cy="50292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395935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2702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launch sekarang. Gunakan 6 bulan ke depan untuk quiet pre-positioning, lalu eksekusi big-bang akhir Juni 2024 saat puncak kemarau berikutnya.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5074920"/>
            <a:ext cx="502920" cy="50292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074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50566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Angle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3675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Buang jargon kebijakan; bertumpu pada empati keseharian — outlier 25.536 interaksi tercipta dari celotehan kasual selebriti, bukan press conference.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9360" y="1783080"/>
            <a:ext cx="502920" cy="50292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49440" y="17647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How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49440" y="20756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Hentikan PR massal. Beralih ke kolaborasi VIP eksklusif: kompas.tv, jaringan Tempo, kompas.com, cnnindonesia.com.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2880360"/>
            <a:ext cx="502920" cy="50292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49440" y="28620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Proof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49440" y="317296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Jadikan data hardware sebagai konten — rilis Jakarta Pollution Live Index, embed gratis di portal media partner.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309360" y="3977640"/>
            <a:ext cx="502920" cy="50292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49440" y="395935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9440" y="42702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3-bulan pasca-launch: 25% Share of Voice di top-5 outlet, +40% brand mention growth, 500 device pre-orders.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 ·  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Konteks: klien, pertanyaan, dan dataset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65760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73152" cy="420624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9659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2402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Quality Hardware Startup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3291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Jakarta yang membuat alat ukur PM2.5 / AQI portable.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teknis solid, namun awareness publik masih rendah.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Membutuhkan strategi PR yang tepat-momentum: kapan launch, lewat siapa, dan dengan narasi apa.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1783080"/>
            <a:ext cx="365760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1783080"/>
            <a:ext cx="73152" cy="4206240"/>
          </a:xfrm>
          <a:prstGeom prst="rect">
            <a:avLst/>
          </a:prstGeom>
          <a:solidFill>
            <a:srgbClr val="D14B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9659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D14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PERTANYAAN INTI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09160" y="22402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wave still alive — or already gone?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709160" y="2926080"/>
            <a:ext cx="3291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 melihat ledakan pemberitaan polusi Jakarta di tahun 2023.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Pertanyaan: apakah momentum media masih relevan untuk dimanfaatkan, atau sudah lewat?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Konsekuensi: keputusan timing peluncuran kampanye awareness yang akan menentukan ROI marketing.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321040" y="1783080"/>
            <a:ext cx="32918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783080"/>
            <a:ext cx="73152" cy="4206240"/>
          </a:xfrm>
          <a:prstGeom prst="rect">
            <a:avLst/>
          </a:prstGeom>
          <a:solidFill>
            <a:srgbClr val="4A8B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19659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95360" y="2240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4,113 News Articles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595360" y="292608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Periode: Jan – Nov 2023 (11 bulan).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media monitoring export.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Kolom: Published, Headline, Website, Twitter Influencer Shares, Total Facebook, Total Interactions.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 sesuai brief: LinkedIn = tracking error (drop), 11.7% artikel 0-interaksi.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 ·  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kami membersihkan dan memperlakukan data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27432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63040" y="20756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Timezone Handling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timestamp di-parse ke Asia/Jakarta sebelum grouping. Mencegah off-by-one error di batas hari/bulan.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29000" y="1783080"/>
            <a:ext cx="27432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03320" y="2057400"/>
            <a:ext cx="502920" cy="502920"/>
          </a:xfrm>
          <a:prstGeom prst="ellipse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343400" y="20756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Treatment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703320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 duplikat link &amp; 172 duplikat headline diperiksa manual. Yang nilainya identik di-drop; yang berbeda timestamp/interaksi → digabungkan.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09360" y="1783080"/>
            <a:ext cx="27432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0" y="2057400"/>
            <a:ext cx="502920" cy="502920"/>
          </a:xfrm>
          <a:prstGeom prst="ellipse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223760" y="20756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Zero-Interaction Articles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482 artikel (11.7%) dengan 0 interaksi diperlakukan sebagai noise pemberitaan tanpa pickup sosial — tetap ada di volume count, dilabel terpisah saat menghitung engagement.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189720" y="1783080"/>
            <a:ext cx="242316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64040" y="2057400"/>
            <a:ext cx="502920" cy="502920"/>
          </a:xfrm>
          <a:prstGeom prst="ellipse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640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104120" y="207568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Dropped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464040" y="274320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Sesuai brief — tracking error. Tidak masuk perhitungan apa pun.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206240"/>
            <a:ext cx="11064240" cy="1783080"/>
          </a:xfrm>
          <a:prstGeom prst="rect">
            <a:avLst/>
          </a:prstGeom>
          <a:solidFill>
            <a:srgbClr val="FCF9F4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206240"/>
            <a:ext cx="73152" cy="1783080"/>
          </a:xfrm>
          <a:prstGeom prst="rect">
            <a:avLst/>
          </a:prstGeom>
          <a:solidFill>
            <a:srgbClr val="D14B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14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KETERBATASAN ANALISIS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4663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11-bulan tunggal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tidak ada baseline tahun lain untuk membandingkan apakah pola Agustus 2023 unik atau berulang.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</a:t>
            </a:r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sentiment score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klasifikasi tone berbasis pembacaan headline manual.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</a:t>
            </a:r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data demografi audience per outlet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asumsi audience type berbasis pola distribusi FB vs Twitter Influencer Shares.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 ·  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011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4688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Volume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Trend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822960" y="4572000"/>
            <a:ext cx="1371600" cy="36576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709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Memetakan kapan gelombang itu memuncak,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seberapa besar, dan kapan ia memudar.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1.1  ·  MONTHLY VOLUME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Agustus 2023: ledakan tunggal yang menelan setahun publikasi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pic>
        <p:nvPicPr>
          <p:cNvPr id="5" name="Image 0" descr="/sessions/funny-jolly-meitner/mnt/Maverick Indonesia/maverick-jakarta-air-pollution/outputs/charts/01_monthly_vol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49808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21040" y="1828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68.5%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321040" y="24688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seluruh artikel selama 11 bulan tercetak hanya di Agustus 2023.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321040" y="3108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21.8×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8321040" y="37490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lipat dari rata-rata bulanan (~129 artikel) di 10 bulan lainnya.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321040" y="43891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−99%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8321040" y="50292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kontraksi volume dari Agustus (2.819) ke November (19) — wave sudah mati.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715000"/>
            <a:ext cx="11064240" cy="59436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573328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Agustus mendominasi karena kombinasi krisis musiman (kemarau + El Niño) dan rentetan pemicu kontroversi politik — namun kurva pasca-Agustus menunjukkan bahwa atensi publik telah pindah ke topik lain.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Volume &amp; Trend  ·  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1.2  ·  AUGUST DEEP-DIVE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fase krisis dalam 30 hari — bukan satu peristiwa tunggal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pic>
        <p:nvPicPr>
          <p:cNvPr id="5" name="Image 0" descr="/sessions/funny-jolly-meitner/mnt/Maverick Indonesia/maverick-jakarta-air-pollution/outputs/charts/02_august_dai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06424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029200"/>
            <a:ext cx="361188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029200"/>
            <a:ext cx="73152" cy="141732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5120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463040" y="5120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14–16 Agustus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77240" y="534924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Viral Peak (205/hari)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566928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Berita Jokowi batuk 4 minggu + KLHK menyebut polusi sebagai 'framing' → respons emosional &amp; protes warga di Balai Kota.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97680" y="5029200"/>
            <a:ext cx="361188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7680" y="5029200"/>
            <a:ext cx="73152" cy="1417320"/>
          </a:xfrm>
          <a:prstGeom prst="rect">
            <a:avLst/>
          </a:prstGeom>
          <a:solidFill>
            <a:srgbClr val="D14B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26280" y="5120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14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212080" y="5120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24–25 Agustus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526280" y="534924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Controversy (206/hari)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26280" y="566928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Pemerintah semprot water cannon — dikritik IDI sebagai langkah tidak efektif. KLHK alihkan fokus ke industri.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001000" y="5029200"/>
            <a:ext cx="361188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01000" y="5029200"/>
            <a:ext cx="73152" cy="1417320"/>
          </a:xfrm>
          <a:prstGeom prst="rect">
            <a:avLst/>
          </a:prstGeom>
          <a:solidFill>
            <a:srgbClr val="4A8B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0" y="5120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915400" y="5120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28–31 Agustus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229600" y="534924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Intervention (223/hari)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229600" y="566928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Klimaks politis: Jokowi resmi tunjuk Luhut. Narasi bergeser dari kepanikan ke 'krisis prioritas nasional'.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Volume &amp; Trend  ·  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1.3  ·  THE TRIGGER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yang sebenarnya memicu ledakan Agustus?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pic>
        <p:nvPicPr>
          <p:cNvPr id="5" name="Image 0" descr="/sessions/funny-jolly-meitner/mnt/Maverick Indonesia/maverick-jakarta-air-pollution/outputs/charts/03_word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9436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120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Cloud — Headlines 11–16 Agustus 2023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766560" y="1783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DOMINAN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0" y="2148840"/>
            <a:ext cx="1554480" cy="365760"/>
          </a:xfrm>
          <a:prstGeom prst="rect">
            <a:avLst/>
          </a:prstGeom>
          <a:solidFill>
            <a:srgbClr val="D14B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66560" y="2148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health-impact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458200" y="219456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Jokowi batuk 4 minggu, anak Sandra Dewi sakit, ancaman ISPA pada anak.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766560" y="2880360"/>
            <a:ext cx="1554480" cy="36576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66560" y="2880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458200" y="29260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Pernyataan kontroversial KLHK ('framing'), saling sindir tokoh politik.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766560" y="3611880"/>
            <a:ext cx="1554480" cy="365760"/>
          </a:xfrm>
          <a:prstGeom prst="rect">
            <a:avLst/>
          </a:prstGeom>
          <a:solidFill>
            <a:srgbClr val="4A8B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611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wfh-policy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458200" y="36576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Wacana awal kebijakan WFH bagi ASN.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766560" y="4343400"/>
            <a:ext cx="1554480" cy="36576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4343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458200" y="43891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Perdebatan: kendaraan vs PLTU &amp; industri — siapa 'kambing hitam'?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766560" y="5212080"/>
            <a:ext cx="484632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49440" y="53035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7B30"/>
                </a:solidFill>
              </a:rPr>
              <a:t>Punchline:
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Polusi meledak bukan karena angka kualitas udara — melainkan karena </a:t>
            </a:r>
            <a:pPr indent="0" marL="0">
              <a:buNone/>
            </a:pPr>
            <a:r>
              <a:rPr lang="en-US" sz="1000" b="1" dirty="0">
                <a:solidFill>
                  <a:srgbClr val="F8B370"/>
                </a:solidFill>
              </a:rPr>
              <a:t>empati personal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 atas masalah kesehatan publik sehari-hari.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Volume &amp; Trend  ·  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1.4  ·  THE SEPTEMBER PIVOT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Audiens lelah blame-game politik, beralih ke survival &amp; solusi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548640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83080"/>
            <a:ext cx="5486400" cy="457200"/>
          </a:xfrm>
          <a:prstGeom prst="rect">
            <a:avLst/>
          </a:prstGeom>
          <a:solidFill>
            <a:srgbClr val="D14B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01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AGUSTUS 2023 (BEFORE)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801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 politik &amp; krisis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23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Politics + Health Panic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Jokowi tunjuk Luhut menangani polusi (2.856 interaksi)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Anies kritisi subsidi mobil listrik (4.214 interaksi)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KLHK 'framing' &amp; water cannon controversy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ASN WFH wacana reaktif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783080"/>
            <a:ext cx="548640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783080"/>
            <a:ext cx="5486400" cy="457200"/>
          </a:xfrm>
          <a:prstGeom prst="rect">
            <a:avLst/>
          </a:prstGeom>
          <a:solidFill>
            <a:srgbClr val="4A8B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801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2023 (AFTER)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1801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&amp; survival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0" y="2423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+ Fatal Health Threat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97180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 Dayanti @ Synchronize Festival (25.536 interaksi — outlier #1)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Polusi memperpendek usia Jakartans 4,3 tahun (studi ilmiah)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Korban nyawa &amp; kondisi paru-paru anak-anak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praktis: air purifier, masker N95, gaya hidup bersih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attention shifted: from political theater → personal survival. Inilah window narasi yang harus ditangkap.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Volume &amp; Trend  ·  9 / 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011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4688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Source Analysis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822960" y="4572000"/>
            <a:ext cx="1371600" cy="36576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709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mengukur seberapa banyak yang ditulis.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mengungkap apa yang benar-benar audiens respons.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2.1  ·  ENGAGEMENT DISTRIBUTION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Power-law ekstrem — 0.3% artikel memonopoli viralitas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pic>
        <p:nvPicPr>
          <p:cNvPr id="5" name="Image 0" descr="/sessions/funny-jolly-meitner/mnt/Maverick Indonesia/maverick-jakarta-air-pollution/outputs/charts/04_engagement_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132320" cy="4023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955280" y="178308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55280" y="1783080"/>
            <a:ext cx="73152" cy="1280160"/>
          </a:xfrm>
          <a:prstGeom prst="rect">
            <a:avLst/>
          </a:prstGeom>
          <a:solidFill>
            <a:srgbClr val="D14B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83880" y="19202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14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183880" y="2423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 get ≤10 interactions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183880" y="2697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'0' + '1–10' = 2.583 dari 4.113. Mayoritas absolut nyaris tanpa respons audiens.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955280" y="315468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955280" y="3154680"/>
            <a:ext cx="73152" cy="128016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838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183880" y="3794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 capture viral mass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183880" y="4069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11 artikel menembus &gt;1.000 interaksi. Tier elit yang mengontrol percakapan publik.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955280" y="452628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955280" y="4526280"/>
            <a:ext cx="73152" cy="1280160"/>
          </a:xfrm>
          <a:prstGeom prst="rect">
            <a:avLst/>
          </a:prstGeom>
          <a:solidFill>
            <a:srgbClr val="4A8B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83880" y="46634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implication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183880" y="51663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spray-and-pray PR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183880" y="5440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Sebar press release ke 100+ portal = membuang budget. Fokus 100% sumber daya pada 10–20 top tier publishers yang terbukti memicu interaksi massa.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Engagement &amp; Source  ·  11 / 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2.2  ·  THE OUTLIER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25.536 interaksi dari satu komentar kasual selebriti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5029200" cy="420624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83080"/>
            <a:ext cx="5029200" cy="73152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3317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25,536</a:t>
            </a:r>
            <a:endParaRPr lang="en-US" sz="8400" dirty="0"/>
          </a:p>
        </p:txBody>
      </p:sp>
      <p:sp>
        <p:nvSpPr>
          <p:cNvPr id="9" name="Text 7"/>
          <p:cNvSpPr/>
          <p:nvPr/>
        </p:nvSpPr>
        <p:spPr>
          <a:xfrm>
            <a:off x="77724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interactions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4434840"/>
            <a:ext cx="4114800" cy="0"/>
          </a:xfrm>
          <a:prstGeom prst="line">
            <a:avLst/>
          </a:prstGeom>
          <a:noFill/>
          <a:ln w="12700">
            <a:solidFill>
              <a:srgbClr val="EE7B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5262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8B370"/>
                </a:solidFill>
              </a:rPr>
              <a:t>6×</a:t>
            </a:r>
            <a:pPr indent="0" marL="0">
              <a:buNone/>
            </a:pPr>
            <a:r>
              <a:rPr lang="en-US" sz="1200" dirty="0">
                <a:solidFill>
                  <a:srgbClr val="F7F5F0"/>
                </a:solidFill>
              </a:rPr>
              <a:t>  lebih besar dari artikel #2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</a:rPr>
              <a:t>(Anies — politik mobil listrik · 4.214 interaksi)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760720" y="1783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 Dayanti Singgung Polusi Udara Jakarta</a:t>
            </a:r>
            <a:endParaRPr lang="en-US" sz="1600" dirty="0"/>
          </a:p>
          <a:p>
            <a:pPr indent="0" marL="0">
              <a:buNone/>
            </a:pPr>
            <a:r>
              <a:rPr lang="en-US" sz="1600" b="1" i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Manggung di Synchronize Hari Pertama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60720" y="2697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kompas.com  ·  1 September 2023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760720" y="3108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INI MELEDAK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760720" y="3520440"/>
            <a:ext cx="164592" cy="164592"/>
          </a:xfrm>
          <a:prstGeom prst="ellipse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346557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</a:rPr>
              <a:t>Identitas pelaku.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Selebriti relevan, bukan pejabat — relatable &amp; approachable.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760720" y="4069080"/>
            <a:ext cx="164592" cy="164592"/>
          </a:xfrm>
          <a:prstGeom prst="ellipse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401421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</a:rPr>
              <a:t>Konteks moment.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Festival musik raksasa Synchronize → audiens emosional, tinggi engagement.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60720" y="4617720"/>
            <a:ext cx="164592" cy="164592"/>
          </a:xfrm>
          <a:prstGeom prst="ellipse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456285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</a:rPr>
              <a:t>Channel.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100% interaksi dari Facebook → audiens massa akar rumput, bukan elite.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60720" y="5166360"/>
            <a:ext cx="164592" cy="164592"/>
          </a:xfrm>
          <a:prstGeom prst="ellipse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35040" y="5111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</a:rPr>
              <a:t>Format pesan.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'Singgung' = komentar kasual, bukan press conference yang kaku.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audiences respond to human moments, not policy statements.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Engagement &amp; Source  ·  12 / 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2.3  ·  TWO PLATFORMS, TWO AUDIENCES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Polarisasi audiens — outlet harus diperlakukan berbeda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pic>
        <p:nvPicPr>
          <p:cNvPr id="5" name="Image 0" descr="/sessions/funny-jolly-meitner/mnt/Maverick Indonesia/maverick-jakarta-air-pollution/outputs/charts/05_platform_sk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4008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178040" y="1783080"/>
            <a:ext cx="443484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78040" y="1783080"/>
            <a:ext cx="73152" cy="2194560"/>
          </a:xfrm>
          <a:prstGeom prst="rect">
            <a:avLst/>
          </a:prstGeom>
          <a:solidFill>
            <a:srgbClr val="1DA1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06640" y="1874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DA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TWITTER-SKEWED  ·  Elite &amp; Analitis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406640" y="2194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metro.tempo.co  ·  tekno.tempo.co  ·  gelora.co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2606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Interaksi nyaris 100% dari Twitter influencer (1K+ followers). Audience: jurnalis, pembuat kebijakan, aktivis.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33375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4A"/>
                </a:solidFill>
              </a:rPr>
              <a:t>Use for:  </a:t>
            </a:r>
            <a:pPr indent="0" marL="0">
              <a:buNone/>
            </a:pPr>
            <a:r>
              <a:rPr lang="en-US" sz="1000" i="1" dirty="0">
                <a:solidFill>
                  <a:srgbClr val="1A1A1A"/>
                </a:solidFill>
              </a:rPr>
              <a:t>credibility, policy pressure, B2B trust signals.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178040" y="4160520"/>
            <a:ext cx="443484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78040" y="4160520"/>
            <a:ext cx="73152" cy="2194560"/>
          </a:xfrm>
          <a:prstGeom prst="rect">
            <a:avLst/>
          </a:prstGeom>
          <a:solidFill>
            <a:srgbClr val="4267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06640" y="4251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26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FACEBOOK-SKEWED  ·  Regional &amp; Massa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406640" y="45720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bantennews.co.id  ·  prsoloraya.pikiran-rakyat.com  ·  briliobeauty.net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406640" y="51663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lokal/regional dan lifestyle — 100% interaksi dari Facebook. Audience: konsumen umum, akar rumput.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06640" y="58521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2B4A"/>
                </a:solidFill>
              </a:rPr>
              <a:t>Use for:  </a:t>
            </a:r>
            <a:pPr indent="0" marL="0">
              <a:buNone/>
            </a:pPr>
            <a:r>
              <a:rPr lang="en-US" sz="1000" i="1" dirty="0">
                <a:solidFill>
                  <a:srgbClr val="1A1A1A"/>
                </a:solidFill>
              </a:rPr>
              <a:t>mass awareness, human-interest virality, product trial sign-ups.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Engagement &amp; Source  ·  13 / 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2.4  ·  SOURCE RANKING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≠ Engagement — satu outlet menguasai keduanya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5029200" cy="457200"/>
          </a:xfrm>
          <a:prstGeom prst="rect">
            <a:avLst/>
          </a:prstGeom>
          <a:solidFill>
            <a:srgbClr val="6B72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BY VOLUME (publish terbanyak)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2331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4A"/>
                </a:solidFill>
              </a:rPr>
              <a:t>liputan6.com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474720" y="23317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314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8912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16.9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8346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9728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4A"/>
                </a:solidFill>
              </a:rPr>
              <a:t>cnnindonesia.com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474720" y="28346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306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9120" y="28346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56.5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337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728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4A"/>
                </a:solidFill>
              </a:rPr>
              <a:t>idntimes.com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47472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183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15.6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840480"/>
            <a:ext cx="5029200" cy="457200"/>
          </a:xfrm>
          <a:prstGeom prst="rect">
            <a:avLst/>
          </a:prstGeom>
          <a:solidFill>
            <a:srgbClr val="F8B3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404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97280" y="3840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B4A"/>
                </a:solidFill>
              </a:rPr>
              <a:t>kompas.tv ★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474720" y="3840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164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89120" y="38404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97.8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4343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97280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4A"/>
                </a:solidFill>
              </a:rPr>
              <a:t>health.detik.com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74720" y="4343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156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389120" y="4343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15.4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74720" y="22402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articles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38912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avg eng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583680" y="1783080"/>
            <a:ext cx="5029200" cy="45720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0" y="1783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BY AVG ENGAGEMENT (≥20 articles)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675120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32320" y="2331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4A"/>
                </a:solidFill>
              </a:rPr>
              <a:t>kompas.com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509760" y="23317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66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4241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399.3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675120" y="28346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13232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4A"/>
                </a:solidFill>
              </a:rPr>
              <a:t>suarasurabaya.net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9509760" y="28346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25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424160" y="28346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104.1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583680" y="3337560"/>
            <a:ext cx="5029200" cy="457200"/>
          </a:xfrm>
          <a:prstGeom prst="rect">
            <a:avLst/>
          </a:prstGeom>
          <a:solidFill>
            <a:srgbClr val="F8B3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3337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3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13232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B4A"/>
                </a:solidFill>
              </a:rPr>
              <a:t>kompas.tv ★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50976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164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424160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97.8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675120" y="38404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4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132320" y="3840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4A"/>
                </a:solidFill>
              </a:rPr>
              <a:t>cnnindonesia.com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9509760" y="3840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306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0424160" y="38404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56.5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675120" y="4343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5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132320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4A"/>
                </a:solidFill>
              </a:rPr>
              <a:t>metro.tempo.co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9509760" y="4343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35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424160" y="4343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53.0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509760" y="22402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articles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1042416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avg eng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48640" y="5212080"/>
            <a:ext cx="11064240" cy="114300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48640" y="5212080"/>
            <a:ext cx="73152" cy="114300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7240" y="5349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THE SWEET SPOT  ·  kompas.tv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777240" y="5715000"/>
            <a:ext cx="10835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outlet menembus kedua Top-5 — kompas.tv (#4 vol · #3 eng) dan cnnindonesia.com (#2 vol · #4 eng). Tapi kompas.tv unggul sebagai Sweet Spot karena rasio engagement (97.8) hampir 2× CNN (56.5) dengan volume tetap kompetitif. Klien wajib menjadikannya Tier-1 VIP partner.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Engagement &amp; Source  ·  14 / 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011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4688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822960" y="4572000"/>
            <a:ext cx="1371600" cy="36576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709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data ke keputusan: kapan launch, pesan apa,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lewat siapa, dan bagaimana mengukur sukses.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3.1  ·  TIMING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strategy — pre-position now, launch loud at next dry-season trigger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65760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83080"/>
            <a:ext cx="3657600" cy="457200"/>
          </a:xfrm>
          <a:prstGeom prst="rect">
            <a:avLst/>
          </a:prstGeom>
          <a:solidFill>
            <a:srgbClr val="D14B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013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OPSI A — LAUNCH NOW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8013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423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tinggi, ROI rendah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971800"/>
            <a:ext cx="3200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Pro: memori publik masih segar; inventory media murah.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Kontra: kurva engagement sudah collapse (716 → 142 → 19); tidak ada amplifier alami; budget terbakar tanpa wave.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34840" y="1783080"/>
            <a:ext cx="365760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4840" y="1783080"/>
            <a:ext cx="3657600" cy="457200"/>
          </a:xfrm>
          <a:prstGeom prst="rect">
            <a:avLst/>
          </a:prstGeom>
          <a:solidFill>
            <a:srgbClr val="6B72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8013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OPSI B — WAIT PASIF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63440" y="18013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2423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bulan dormansi — terlalu mahal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2971800"/>
            <a:ext cx="3200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Pro: menunggu pola musim kemarau berikutnya yang predictable.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Kontra: 6 bulan diam = momentum tim hilang; kompetitor (Nafas, IQAir) bisa pre-empt; tidak ada relationship building.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321040" y="1783080"/>
            <a:ext cx="365760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783080"/>
            <a:ext cx="3657600" cy="457200"/>
          </a:xfrm>
          <a:prstGeom prst="rect">
            <a:avLst/>
          </a:prstGeom>
          <a:solidFill>
            <a:srgbClr val="4A8B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49640" y="18013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OPSI C — HYBRID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49640" y="18013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i="1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RECOMMENDED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49640" y="2423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Pre-position + Launch loud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49640" y="2971800"/>
            <a:ext cx="3200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2023 – Q1 2024: bangun relasi jurnalis, dataset historis device, press kit.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2024: seeding via IQAir Annual Report.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Jun 2024: big-bang launch saat puncak kemarau berikutnya.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kemarau Juni–Sept 2024 adalah trigger yang paling probabilistik — pola musiman Indonesia + siklus El Niño.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Recommendation  ·  16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3.2  ·  NARRATIVE ANGLE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Lifestyle-Solutions dengan health undertone — buang jargon kebijakan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4572000" cy="420624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83080"/>
            <a:ext cx="4572000" cy="73152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65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STANCE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3317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Lifestyle-Solutions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8B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health undertone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3840480"/>
            <a:ext cx="4114800" cy="0"/>
          </a:xfrm>
          <a:prstGeom prst="line">
            <a:avLst/>
          </a:prstGeom>
          <a:noFill/>
          <a:ln w="12700">
            <a:solidFill>
              <a:srgbClr val="EE7B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977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konsumen kelas menengah Jakarta yang merasa polusi sebagai ancaman personal — bukan elit kebijakan.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5166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AVOID: political angle, regulatory advocacy, blame-game commentary.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49240" y="1783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THE DATA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349240" y="2194560"/>
            <a:ext cx="457200" cy="45720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49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1488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Kris Dayanti (25.536 interaksi)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0" y="2468880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Lifestyle/celebrity moment menang 6× lipat dari artikel kebijakan tertinggi (Anies = 4.214).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49240" y="3200400"/>
            <a:ext cx="457200" cy="45720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924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0" y="31546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11 articles (&gt;1.000 interaksi) — tier elite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0" y="3474720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murni politik. Mix: human-impact, celebrity, viral moments. Policy alone tidak cukup memicu virality.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349240" y="4206240"/>
            <a:ext cx="457200" cy="45720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4924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943600" y="4160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51% artikel di tier 1–10 (noise massa)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0" y="4480560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Termasuk policy reporting standar. Kampanye lifestyle akan memotong noise lebih efektif.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49240" y="5212080"/>
            <a:ext cx="457200" cy="45720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4924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0" y="51663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pivot ke lifestyle/survival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43600" y="5486400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Pasca-Agustus, top headline bergeser dari 'Luhut tunjuk ASN WFH' → 'polusi perpendek usia 4,3 tahun' &amp; Kris Dayanti.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Recommendation  ·  17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3.3  ·  MEDIA TARGETS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outlet prioritas — masing-masing dengan peran berbeda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548640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5486400" cy="41148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830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 ·  THE SWEET SPOT  ·  ★ MUST-HAVE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kompas.tv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Audience  ·  164 artikel  ·  avg 97.8 engagement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30632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outlet — di Top-5 baik volume (#4) maupun engagement (#3), dengan rasio engagement hampir 2× cnnindonesia.com (97.8 vs 56.5). ROI tertinggi: reach tinggi + kualitas interaksi terjaga. Ideal untuk Live Index widget &amp; feature stories eksklusif.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1783080"/>
            <a:ext cx="548640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783080"/>
            <a:ext cx="5486400" cy="41148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7830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TIER-2  ·  MASS AWARENESS  ·  FB-SKEWED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55080" y="2286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kompas.com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5508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Audience  ·  66 artikel  ·  avg 399.3 engagement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30632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engagement #1 di seluruh dataset — tempat outlier Kris Dayanti meledak. Channel utama untuk seeding human-interest stories di Facebook akar rumput.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4160520"/>
            <a:ext cx="5486400" cy="41148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605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TIER-2  ·  CREDIBILITY  ·  TW-SKEWED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6634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cnnindonesia.com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77240" y="5120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 Audience  ·  306 artikel  ·  avg 56.5 engagement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54406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tinggi + engagement solid. Audience jurnalis dan aktivis Twitter — sempurna untuk thought-leadership pieces dan distribusi data report kualitas udara.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26480" y="4160520"/>
            <a:ext cx="5486400" cy="22402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26480" y="4160520"/>
            <a:ext cx="5486400" cy="41148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41605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TIER-3  ·  POLICY PRESSURE  ·  TW-SKEWED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55080" y="46634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Network (metro.tempo.co)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355080" y="5120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 Audience  ·  35 artikel  ·  avg 53.0 engagement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55080" y="54406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by engagement (#5). Distribusi opini terbesar di Twitter elit. Cocok untuk advokasi kebijakan &amp; framing publik bila kampanye butuh leverage struktural.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Recommendation  ·  18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3.4  ·  DATA AS CONTENT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Pollution Live Index — buat jurnalis datang ke kita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5029200" cy="420624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83080"/>
            <a:ext cx="5029200" cy="73152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3317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Pollution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Index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777240" y="3794760"/>
            <a:ext cx="4114800" cy="0"/>
          </a:xfrm>
          <a:prstGeom prst="line">
            <a:avLst/>
          </a:prstGeom>
          <a:noFill/>
          <a:ln w="12700">
            <a:solidFill>
              <a:srgbClr val="EE7B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93192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Dasbor data hyper-local yang diagregasi real-time dari sensor device pengguna klien — disindikasi seperti laporan BMKG.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Positioning: "Powered by [Klien]" sebagai data authority independen.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85216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STEPS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52160" y="2194560"/>
            <a:ext cx="502920" cy="502920"/>
          </a:xfrm>
          <a:prstGeom prst="ellipse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2148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Data 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248716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Engineering bangun dasbor publik (website widget) menampilkan data AQI/PM2.5 hyper-local berbasis sensor komunitas pengguna.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852160" y="3657600"/>
            <a:ext cx="502920" cy="502920"/>
          </a:xfrm>
          <a:prstGeom prst="ellipse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2240" y="3611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Partnership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395020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agar widget ditanam permanen di halaman depan portal partner (kompas.tv, cnnindonesia.com) dengan label "Powered by [Klien]".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852160" y="5120640"/>
            <a:ext cx="502920" cy="502920"/>
          </a:xfrm>
          <a:prstGeom prst="ellipse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0" y="5120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2240" y="5074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Press Alerts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541324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email otomatis mengirim Early Warning ke jurnalis partner saat indeks menyentuh zona fatal — mereka proaktif minta wawancara dari ahli klien.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Recommendation  ·  19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3.5  ·  AMEC IEF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Pengukuran sukses: Outputs → Outtakes → Outcomes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6576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013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214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yang kita produksi?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365760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97480"/>
            <a:ext cx="320040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 Live Index API Widget (kolaborasi media partner)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sesi Pollution Diary (KOL collab, durasi 7 hari)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10× Media Exclusive Briefing (jurnalis elit Q1–Q2)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 Annual Air Citizen Report (dry season trigger)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5× press releases bertahap selama 6 bulan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657600" cy="64008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8013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OUTTAKES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21214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yang berubah di benak audience?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2514600"/>
            <a:ext cx="365760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2697480"/>
            <a:ext cx="320040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recall sebagai "pelindung pernafasan warga"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Asosiasi brand dengan personal air data layer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Jurnalis menjadikan brand sebagai referensi data polusi independen (data authority)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Konsumen menengah Jakarta mengenali fitur device sebagai everyday tool, bukan gadget niche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474720" cy="640080"/>
          </a:xfrm>
          <a:prstGeom prst="rect">
            <a:avLst/>
          </a:prstGeom>
          <a:solidFill>
            <a:srgbClr val="4A8B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801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21214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yang berubah di dunia nyata? (3-bulan pasca-launch)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38160" y="2514600"/>
            <a:ext cx="347472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0" y="2697480"/>
            <a:ext cx="30175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Voice 25% di top-5 target outlet (Q3 2024)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mention growth +40% YoY per Agustus 2024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Konversi 500+ unit device pre-order / trial sign-up dari traffic earned media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Recommendation  ·  20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hari ini ke launch-day Juni 2024 — 6 bulan persiapan, 3 bulan eksekusi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777240"/>
            <a:ext cx="73152" cy="777240"/>
          </a:xfrm>
          <a:prstGeom prst="rect">
            <a:avLst/>
          </a:prstGeom>
          <a:solidFill>
            <a:srgbClr val="EE7B30"/>
          </a:solidFill>
          <a:ln w="12700">
            <a:solidFill>
              <a:srgbClr val="EE7B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657600"/>
            <a:ext cx="10698480" cy="73152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9928" y="3575304"/>
            <a:ext cx="274320" cy="274320"/>
          </a:xfrm>
          <a:prstGeom prst="ellipse">
            <a:avLst/>
          </a:prstGeom>
          <a:solidFill>
            <a:srgbClr val="6B72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2023 – Q1 2024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237744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28800"/>
            <a:ext cx="237744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Pre-Position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Bangun relasi jurnalis kompas.tv &amp; Tempo. Audit dataset device historis. Draft press kit &amp; data API.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0" y="3520440"/>
            <a:ext cx="0" cy="137160"/>
          </a:xfrm>
          <a:prstGeom prst="line">
            <a:avLst/>
          </a:prstGeom>
          <a:noFill/>
          <a:ln w="9525">
            <a:solidFill>
              <a:srgbClr val="E5E1D8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53128" y="3575304"/>
            <a:ext cx="274320" cy="274320"/>
          </a:xfrm>
          <a:prstGeom prst="ellipse">
            <a:avLst/>
          </a:prstGeom>
          <a:solidFill>
            <a:srgbClr val="4A8B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4A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Maret 2024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83280" y="4297680"/>
            <a:ext cx="237744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3280" y="4297680"/>
            <a:ext cx="2377440" cy="73152"/>
          </a:xfrm>
          <a:prstGeom prst="rect">
            <a:avLst/>
          </a:prstGeom>
          <a:solidFill>
            <a:srgbClr val="4A8B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0" y="4434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Trigger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474720" y="4937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Rilis IQAir Annual Report sebagai mini-trigger. Soft-launch Live Index widget dengan 1 outlet.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0" y="3721608"/>
            <a:ext cx="0" cy="576072"/>
          </a:xfrm>
          <a:prstGeom prst="line">
            <a:avLst/>
          </a:prstGeom>
          <a:noFill/>
          <a:ln w="9525">
            <a:solidFill>
              <a:srgbClr val="E5E1D8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96328" y="3575304"/>
            <a:ext cx="274320" cy="274320"/>
          </a:xfrm>
          <a:prstGeom prst="ellipse">
            <a:avLst/>
          </a:prstGeom>
          <a:solidFill>
            <a:srgbClr val="EE7B3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 2024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1828800"/>
            <a:ext cx="237744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1828800"/>
            <a:ext cx="2377440" cy="73152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Big-Bang Launch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2468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Puncak kemarau berikutnya — full activation: Live Index public, Pollution Diary KOL, 10 media briefing.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315200" y="3520440"/>
            <a:ext cx="0" cy="137160"/>
          </a:xfrm>
          <a:prstGeom prst="line">
            <a:avLst/>
          </a:prstGeom>
          <a:noFill/>
          <a:ln w="9525">
            <a:solidFill>
              <a:srgbClr val="E5E1D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9939528" y="3575304"/>
            <a:ext cx="274320" cy="274320"/>
          </a:xfrm>
          <a:prstGeom prst="ellipse">
            <a:avLst/>
          </a:prstGeom>
          <a:solidFill>
            <a:srgbClr val="1A2B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6968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2024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869680" y="4297680"/>
            <a:ext cx="237744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1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69680" y="4297680"/>
            <a:ext cx="2377440" cy="73152"/>
          </a:xfrm>
          <a:prstGeom prst="rect">
            <a:avLst/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1120" y="4434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&amp; Iterate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961120" y="4937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Pengukuran KPI 3-bulan: 25% SoV, +40% brand mention, 500 device sign-ups. Iterate untuk kemarau 2025.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0058400" y="3721608"/>
            <a:ext cx="0" cy="576072"/>
          </a:xfrm>
          <a:prstGeom prst="line">
            <a:avLst/>
          </a:prstGeom>
          <a:noFill/>
          <a:ln w="9525">
            <a:solidFill>
              <a:srgbClr val="E5E1D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6350">
            <a:solidFill>
              <a:srgbClr val="E5E1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Air Pollution · Maverick Data Analyst Case Study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28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 ·  21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463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EE7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for questions,</a:t>
            </a:r>
            <a:endParaRPr lang="en-US" sz="4400" dirty="0"/>
          </a:p>
          <a:p>
            <a:pPr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challenges, and disagreements.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822960" y="4389120"/>
            <a:ext cx="1371600" cy="36576"/>
          </a:xfrm>
          <a:prstGeom prst="rect">
            <a:avLst/>
          </a:prstGeom>
          <a:solidFill>
            <a:srgbClr val="EE7B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72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data has a story. I committed to one.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hope this convinces you it's the right one."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43600"/>
            <a:ext cx="10515600" cy="36576"/>
          </a:xfrm>
          <a:prstGeom prst="rect">
            <a:avLst/>
          </a:prstGeom>
          <a:solidFill>
            <a:srgbClr val="E5E1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Novindra Prasetio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</a:rPr>
              <a:t>    ·    novindrap@gmail.com    ·    GitHub: maverick-jakarta-air-pollution    ·    May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Maverick Indonesia · Data Analyst Case Study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Jakarta Air Pollution — Media Intelligence</dc:title>
  <dc:subject>PptxGenJS Presentation</dc:subject>
  <dc:creator>Novindra Prasetio</dc:creator>
  <cp:lastModifiedBy>Novindra Prasetio</cp:lastModifiedBy>
  <cp:revision>1</cp:revision>
  <dcterms:created xsi:type="dcterms:W3CDTF">2026-05-03T10:03:06Z</dcterms:created>
  <dcterms:modified xsi:type="dcterms:W3CDTF">2026-05-03T10:03:06Z</dcterms:modified>
</cp:coreProperties>
</file>